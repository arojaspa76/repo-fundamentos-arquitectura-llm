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1"/>
  </p:notesMasterIdLst>
  <p:sldIdLst>
    <p:sldId id="2596" r:id="rId3"/>
    <p:sldId id="259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599" r:id="rId12"/>
    <p:sldId id="2600" r:id="rId13"/>
    <p:sldId id="2601" r:id="rId14"/>
    <p:sldId id="2602" r:id="rId15"/>
    <p:sldId id="2603" r:id="rId16"/>
    <p:sldId id="2604" r:id="rId17"/>
    <p:sldId id="2605" r:id="rId18"/>
    <p:sldId id="2606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C409F0-F8F3-4216-BECD-C63C078FF986}" v="28" dt="2026-06-30T01:28:08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4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Costo/mes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43-4F49-A903-2CF6D55A8550}"/>
              </c:ext>
            </c:extLst>
          </c:dPt>
          <c:dPt>
            <c:idx val="1"/>
            <c:invertIfNegative val="0"/>
            <c:bubble3D val="0"/>
            <c:spPr>
              <a:solidFill>
                <a:srgbClr val="4285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43-4F49-A903-2CF6D55A8550}"/>
              </c:ext>
            </c:extLst>
          </c:dPt>
          <c:dPt>
            <c:idx val="2"/>
            <c:invertIfNegative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43-4F49-A903-2CF6D55A8550}"/>
              </c:ext>
            </c:extLst>
          </c:dPt>
          <c:dPt>
            <c:idx val="3"/>
            <c:invertIfNegative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43-4F49-A903-2CF6D55A855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Azure AKS</c:v>
                </c:pt>
                <c:pt idx="1">
                  <c:v>GCP GKE</c:v>
                </c:pt>
                <c:pt idx="2">
                  <c:v>AWS EKS</c:v>
                </c:pt>
                <c:pt idx="3">
                  <c:v>Ollama Local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</c:v>
                </c:pt>
                <c:pt idx="1">
                  <c:v>290</c:v>
                </c:pt>
                <c:pt idx="2">
                  <c:v>310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43-4F49-A903-2CF6D55A85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0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9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744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A3D769-C8C4-4BE5-83A4-70FC9A25D4AD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452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 los 3 temas del día:
1. Conceptos Kubernetes/Docker
2. Práctica en 3 nubes
3. Costos, ROI y riesgos
Duración: 3 horas con break de 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agenda. Enfatizar que usaremos el MISMO código para las 3 nubes — esa es la clave de portabilidad.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al aula: ¿Quién ha tenido el problema de 'en mi máquina funciona'? Los contenedores nacen exactamente para 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Construir la imagen una vez y reutilizarla en las 3 nubes es el principio central. Multi-stage builds reducen el tamaño de imagen hasta 70%.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jerarquía K8s: Cluster &gt; Namespace &gt; Node &gt; Deployment &gt; Pod &gt; Container. El HPA es lo que nos da escalado automático para picos de demanda.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en vivo: instalar Ollama, descargar llama3.2:3b, lanzar el servidor FastAPI y hacer una llamada desde curl y desde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Ejercicio: el repositorio tiene deploy-azure.sh, deploy-gcp.sh y deploy-aws.sh. Los estudiantes ejecutan los 3 scripts y comparan el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Tarea para la próxima sesión:
1. Desplegar el LLM Gateway en al menos UNA nube (la de su preferencia)
2. Hacer funcionar el endpoint /chat
3. Documentar el costo real incurrido
Próxima sesión: Arquitecturas Serverless y Optimización de Costos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45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1F96F366-89B5-B26A-C459-B2F53B8F0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932259" y="895944"/>
            <a:ext cx="7279482" cy="994173"/>
          </a:xfrm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AE7852-6A2A-B495-635D-58D1FC359E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6698967" y="4426064"/>
            <a:ext cx="2057400" cy="273844"/>
          </a:xfrm>
          <a:prstGeom prst="rect">
            <a:avLst/>
          </a:prstGeom>
        </p:spPr>
        <p:txBody>
          <a:bodyPr/>
          <a:lstStyle>
            <a:lvl1pPr algn="r">
              <a:defRPr b="1"/>
            </a:lvl1pPr>
          </a:lstStyle>
          <a:p>
            <a:fld id="{7E8F5345-8153-43DD-9300-E9A235179243}" type="slidenum">
              <a:rPr lang="es-PE" smtClean="0"/>
              <a:pPr/>
              <a:t>‹#›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1821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1C7B4-BD7E-3A9A-D0AA-6F3AE67527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932259" y="2074664"/>
            <a:ext cx="7279482" cy="9941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121B71-5D03-27F5-A202-F0F4A61249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932260" y="3429000"/>
            <a:ext cx="7279482" cy="640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200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906" y="733806"/>
            <a:ext cx="8366760" cy="25717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906" y="3360420"/>
            <a:ext cx="5328666" cy="1049274"/>
          </a:xfrm>
        </p:spPr>
        <p:txBody>
          <a:bodyPr anchor="b">
            <a:normAutofit/>
          </a:bodyPr>
          <a:lstStyle>
            <a:lvl1pPr marL="0" indent="0" algn="l">
              <a:buNone/>
              <a:defRPr sz="1650" i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3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0906" y="1933956"/>
            <a:ext cx="3874770" cy="28254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754" y="1933956"/>
            <a:ext cx="3874770" cy="28254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66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2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EA1728-A627-6EED-A403-E5C6862EE5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932259" y="2074664"/>
            <a:ext cx="7279482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F4EE74-F62E-804C-C402-763EC00D21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932259" y="3450431"/>
            <a:ext cx="7279482" cy="640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7468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ctr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500" kern="1200">
          <a:solidFill>
            <a:srgbClr val="92D050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linkedin.com/in/arojaspa/" TargetMode="External"/><Relationship Id="rId5" Type="http://schemas.openxmlformats.org/officeDocument/2006/relationships/hyperlink" Target="mailto:arojaspa@outlook.com" TargetMode="External"/><Relationship Id="rId10" Type="http://schemas.openxmlformats.org/officeDocument/2006/relationships/image" Target="../media/image8.png"/><Relationship Id="rId4" Type="http://schemas.openxmlformats.org/officeDocument/2006/relationships/hyperlink" Target="mailto:anrojas@universidadean.edu.co" TargetMode="Externa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22FDC-DE2E-84AB-866E-E1CCDAF76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3300" dirty="0"/>
              <a:t>Arquitectura y </a:t>
            </a:r>
            <a:r>
              <a:rPr lang="es-CO" sz="3300" dirty="0" err="1"/>
              <a:t>Componentes</a:t>
            </a:r>
            <a:r>
              <a:rPr lang="es-CO" sz="3300" dirty="0"/>
              <a:t> Esenciales</a:t>
            </a:r>
            <a:r>
              <a:rPr lang="es-CO" sz="3300" dirty="0" err="1"/>
              <a:t> de los</a:t>
            </a:r>
            <a:r>
              <a:rPr lang="es-CO" sz="3300" dirty="0"/>
              <a:t> </a:t>
            </a:r>
            <a:r>
              <a:rPr lang="es-CO" sz="3300" dirty="0" err="1"/>
              <a:t>LLM</a:t>
            </a:r>
            <a:br>
              <a:rPr lang="es-CO" sz="3300" dirty="0"/>
            </a:br>
            <a:br>
              <a:rPr lang="es-CO" sz="3300" dirty="0"/>
            </a:br>
            <a:r>
              <a:rPr lang="es-CO" sz="1500" dirty="0"/>
              <a:t>Fundamentos de Arquitectura LLM  ·  Sesión 1 de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F1134-E656-C0B1-9054-C4E449D5B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noProof="0" dirty="0"/>
          </a:p>
          <a:p>
            <a:r>
              <a:rPr lang="es-CO" noProof="0" dirty="0"/>
              <a:t>Atención, tokens, embeddings y ventana de contexto para aplicaciones empresariales</a:t>
            </a:r>
          </a:p>
        </p:txBody>
      </p:sp>
    </p:spTree>
    <p:extLst>
      <p:ext uri="{BB962C8B-B14F-4D97-AF65-F5344CB8AC3E}">
        <p14:creationId xmlns:p14="http://schemas.microsoft.com/office/powerpoint/2010/main" val="199362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in front of a projector screen&#10;&#10;Description automatically generated">
            <a:extLst>
              <a:ext uri="{FF2B5EF4-FFF2-40B4-BE49-F238E27FC236}">
                <a16:creationId xmlns:a16="http://schemas.microsoft.com/office/drawing/2014/main" id="{F4050E24-A292-98CE-9A28-A6AD335BF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768" y="1086224"/>
            <a:ext cx="2556575" cy="2556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32BD56-BE25-61AB-4681-2815B4F9BEE6}"/>
              </a:ext>
            </a:extLst>
          </p:cNvPr>
          <p:cNvSpPr txBox="1"/>
          <p:nvPr/>
        </p:nvSpPr>
        <p:spPr>
          <a:xfrm>
            <a:off x="366963" y="977940"/>
            <a:ext cx="5089359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s-CO" b="1" dirty="0">
                <a:solidFill>
                  <a:prstClr val="black"/>
                </a:solidFill>
                <a:latin typeface="Arial" panose="020B0604020202020204"/>
              </a:rPr>
              <a:t>Andrés Felipe Rojas Parra</a:t>
            </a:r>
          </a:p>
          <a:p>
            <a:pPr defTabSz="685800">
              <a:defRPr/>
            </a:pPr>
            <a:endParaRPr lang="es-CO" b="1" dirty="0">
              <a:solidFill>
                <a:prstClr val="black"/>
              </a:solidFill>
              <a:latin typeface="Arial" panose="020B0604020202020204"/>
            </a:endParaRP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Ingeniero electrónico con mas de 25 años de experiencia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PGP Artificial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Intelligence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&amp; Machine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Leaning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at Texas University – Austin, TX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Master en Inteligencia Artificial y Big Data – IEBSchool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Estudiante de PGP en Cloud Computing at Texas University - Austin, TX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Texas Executive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Education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Program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– McCombs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School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of Business –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Decision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Science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and AI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Immersion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es-CO" sz="1050" dirty="0" err="1">
                <a:solidFill>
                  <a:prstClr val="black"/>
                </a:solidFill>
                <a:latin typeface="Arial" panose="020B0604020202020204"/>
              </a:rPr>
              <a:t>Program</a:t>
            </a:r>
            <a:endParaRPr lang="es-CO" sz="1050" dirty="0">
              <a:solidFill>
                <a:prstClr val="black"/>
              </a:solidFill>
              <a:latin typeface="Arial" panose="020B0604020202020204"/>
            </a:endParaRP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Especialista en MLOps de la Universidad de Duke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Estudiante de </a:t>
            </a:r>
            <a:r>
              <a:rPr lang="en-US" sz="1050" dirty="0">
                <a:solidFill>
                  <a:prstClr val="black"/>
                </a:solidFill>
                <a:latin typeface="Arial" panose="020B0604020202020204"/>
              </a:rPr>
              <a:t>Deep Learning for Healthcare Specialization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prstClr val="black"/>
                </a:solidFill>
                <a:latin typeface="Arial" panose="020B0604020202020204"/>
              </a:rPr>
              <a:t>Director de </a:t>
            </a:r>
            <a:r>
              <a:rPr lang="en-US" sz="1050" dirty="0" err="1">
                <a:solidFill>
                  <a:prstClr val="black"/>
                </a:solidFill>
                <a:latin typeface="Arial" panose="020B0604020202020204"/>
              </a:rPr>
              <a:t>Inteligencia</a:t>
            </a:r>
            <a:r>
              <a:rPr lang="en-US" sz="1050" dirty="0">
                <a:solidFill>
                  <a:prstClr val="black"/>
                </a:solidFill>
                <a:latin typeface="Arial" panose="020B0604020202020204"/>
              </a:rPr>
              <a:t> Artificial e </a:t>
            </a:r>
            <a:r>
              <a:rPr lang="en-US" sz="1050" dirty="0" err="1">
                <a:solidFill>
                  <a:prstClr val="black"/>
                </a:solidFill>
                <a:latin typeface="Arial" panose="020B0604020202020204"/>
              </a:rPr>
              <a:t>Innovacion</a:t>
            </a:r>
            <a:r>
              <a:rPr lang="en-US" sz="1050" dirty="0">
                <a:solidFill>
                  <a:prstClr val="black"/>
                </a:solidFill>
                <a:latin typeface="Arial" panose="020B0604020202020204"/>
              </a:rPr>
              <a:t> Universidad EAN/Colombia</a:t>
            </a:r>
          </a:p>
          <a:p>
            <a:pPr defTabSz="685800">
              <a:defRPr/>
            </a:pPr>
            <a:endParaRPr lang="es-CO" sz="1200" dirty="0">
              <a:solidFill>
                <a:prstClr val="black"/>
              </a:solidFill>
              <a:latin typeface="Arial" panose="020B0604020202020204"/>
            </a:endParaRPr>
          </a:p>
          <a:p>
            <a:pPr defTabSz="685800">
              <a:defRPr/>
            </a:pPr>
            <a:r>
              <a:rPr lang="es-CO" sz="1200" dirty="0">
                <a:solidFill>
                  <a:prstClr val="black"/>
                </a:solidFill>
                <a:latin typeface="Arial" panose="020B0604020202020204"/>
              </a:rPr>
              <a:t>       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  <a:hlinkClick r:id="rId4"/>
              </a:rPr>
              <a:t>anrojas@universidadean.edu.co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/ 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  <a:hlinkClick r:id="rId5"/>
              </a:rPr>
              <a:t>arojaspa@outlook.com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/ arojaspa76 </a:t>
            </a:r>
          </a:p>
          <a:p>
            <a:pPr defTabSz="685800"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       @arojaspa</a:t>
            </a:r>
          </a:p>
          <a:p>
            <a:pPr defTabSz="685800">
              <a:defRPr/>
            </a:pP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       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  <a:hlinkClick r:id="rId6"/>
              </a:rPr>
              <a:t>https://www.linkedin.com/in/arojaspa/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 </a:t>
            </a:r>
          </a:p>
          <a:p>
            <a:pPr defTabSz="685800">
              <a:defRPr/>
            </a:pPr>
            <a:r>
              <a:rPr lang="es-CO" sz="1050" b="1" dirty="0">
                <a:solidFill>
                  <a:prstClr val="black"/>
                </a:solidFill>
                <a:latin typeface="Arial" panose="020B0604020202020204"/>
              </a:rPr>
              <a:t>        </a:t>
            </a:r>
            <a:r>
              <a:rPr lang="es-CO" sz="1050" dirty="0">
                <a:solidFill>
                  <a:prstClr val="black"/>
                </a:solidFill>
                <a:latin typeface="Arial" panose="020B0604020202020204"/>
              </a:rPr>
              <a:t>+573005906373</a:t>
            </a:r>
          </a:p>
          <a:p>
            <a:pPr defTabSz="685800">
              <a:defRPr/>
            </a:pPr>
            <a:endParaRPr lang="es-CO" sz="1350" dirty="0">
              <a:solidFill>
                <a:prstClr val="black"/>
              </a:solidFill>
              <a:latin typeface="Arial" panose="020B0604020202020204"/>
            </a:endParaRP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EB64CA9A-7B31-EFA2-5431-CBE0020D6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97" y="3703802"/>
            <a:ext cx="181562" cy="18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6AB845BF-C5E0-D0AE-BF0D-5B4171151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73" y="3565909"/>
            <a:ext cx="132860" cy="132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X Social Media Black icon PNG and SVG Vector Free Download">
            <a:extLst>
              <a:ext uri="{FF2B5EF4-FFF2-40B4-BE49-F238E27FC236}">
                <a16:creationId xmlns:a16="http://schemas.microsoft.com/office/drawing/2014/main" id="{A77E3B5A-FBB2-0065-4ADA-8350C8F83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1972" y="3403953"/>
            <a:ext cx="132861" cy="13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Webmail Login IONOS, 54% OFF | dobytudesign.cz">
            <a:extLst>
              <a:ext uri="{FF2B5EF4-FFF2-40B4-BE49-F238E27FC236}">
                <a16:creationId xmlns:a16="http://schemas.microsoft.com/office/drawing/2014/main" id="{007B4FE4-1CA7-E477-FB58-766D409F3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40" y="3247029"/>
            <a:ext cx="158085" cy="12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6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914400"/>
            <a:ext cx="3474720" cy="347472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-548640"/>
            <a:ext cx="2743200" cy="2743200"/>
          </a:xfrm>
          <a:prstGeom prst="ellipse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41148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914400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91440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914400"/>
            <a:ext cx="836676" cy="274320"/>
          </a:xfrm>
          <a:prstGeom prst="roundRect">
            <a:avLst>
              <a:gd name="adj" fmla="val 20000"/>
            </a:avLst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87168" y="914400"/>
            <a:ext cx="83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3258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Componentes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Esenciales de los LLM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· Tokens · Embeddings · Contexto · Capacidades y Limitaciones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365760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75488"/>
            <a:ext cx="548640" cy="5486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18120" y="114300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863840" y="1261872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37160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818120" y="203911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7863840" y="2157984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2267712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18120" y="293522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7863840" y="3054096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3163824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383133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7863840" y="3950208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4059936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18120" y="47274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548640" y="4800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BSG Institute  ·  AI/LLM Fundamentos  · 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temas clave • 3 horas de fundamentos con práctica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651760" cy="37490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188720" y="1783080"/>
            <a:ext cx="1097280" cy="256032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Transformer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LLM?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9535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Self-Attention (Q·K·V)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y tokenización BPE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5570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arquitectura (Encoder/Decoder)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1078992"/>
            <a:ext cx="2651760" cy="37490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18688" y="11155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3995928" y="1783080"/>
            <a:ext cx="1097280" cy="256032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95928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2084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y Contexto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6517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embeddings?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29535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 y búsqueda semántica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32552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 y sus límites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35570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para contextos largos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25896" y="1078992"/>
            <a:ext cx="2651760" cy="37490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25896" y="11155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6803136" y="1783080"/>
            <a:ext cx="1097280" cy="256032"/>
          </a:xfrm>
          <a:prstGeom prst="rect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03136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17336" y="2084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y Limitaciones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63056" y="26517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Capacidades: generación, código, razonamiento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63056" y="29535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Limitaciones: alucinaciones, knowledge cutoff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63056" y="32552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modelos en producción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63056" y="35570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Ollama + FastAPI + React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Break 10 min entre Tema 1 y Tema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LLM?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Large Language Model — Modelo de Lenguaje Extenso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3977640" cy="3794760"/>
          </a:xfrm>
          <a:prstGeom prst="rect">
            <a:avLst/>
          </a:prstGeom>
          <a:solidFill>
            <a:srgbClr val="1A152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Definición Técnica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IA preentrenado con trillones de tokens de texto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con millones o billones de parámetros ajustables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5234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patrones del lenguaje — NO memoriza respuestas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2841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texto token a token usando probabilidades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90448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 su "conocimiento" en los datos de entrenamiento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2834640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16552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1078992"/>
            <a:ext cx="3977640" cy="3794760"/>
          </a:xfrm>
          <a:prstGeom prst="rect">
            <a:avLst/>
          </a:prstGeom>
          <a:solidFill>
            <a:srgbClr val="1A2E42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1704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Cómo Funciona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Tokenizar → Embeddings → Transformer → Softmax → Token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7627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predicción usa TODOS los tokens previos en el contexto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75234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controla la aleatoriedad de la selección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32841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aprende nuevas tareas con 2-3 ejemplos en el prompt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90448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reentrenamiento ni fine-tuning para tareas nuevas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Un LLM es esencialmente: P(siguiente token | todos los tokens anteriores) — predicción iterativa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Transformer: "Attention Is All You Need"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Vaswani et al. 2017 — la arquitectura base de todos los LLMs modernos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965960" cy="21945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17043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176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crudo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usuario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77440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60320" y="1078992"/>
            <a:ext cx="1965960" cy="21945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170432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60320" y="2176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BPE/WordPiece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26280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709160" y="1078992"/>
            <a:ext cx="1965960" cy="21945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1170432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709160" y="2176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 bloques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675120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858000" y="1078992"/>
            <a:ext cx="1965960" cy="21945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1170432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1874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0" y="2176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token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11480" y="3383280"/>
            <a:ext cx="4160520" cy="1554480"/>
          </a:xfrm>
          <a:prstGeom prst="rect">
            <a:avLst/>
          </a:prstGeom>
          <a:solidFill>
            <a:srgbClr val="0D1F2D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02920" y="34290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Clave del Transformer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02920" y="3730752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
</a:t>
            </a: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
COPY requirements.txt .
</a:t>
            </a: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-r requirements.txt
</a:t>
            </a: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./app ./app
EXPOSE 8000
</a:t>
            </a: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["uvicorn", "app.main:app", "--host", "0.0.0.0"]
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4663440" y="3383280"/>
            <a:ext cx="4069080" cy="1554480"/>
          </a:xfrm>
          <a:prstGeom prst="rect">
            <a:avLst/>
          </a:prstGeom>
          <a:solidFill>
            <a:srgbClr val="0D1F2D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754880" y="34290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Arquitectura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754880" y="3749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Encoder-Only (BERT)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7498080" y="3749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Clasificación, NER, embeddings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4754880" y="4023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Decoder-Only (GPT, Llama, Mistral)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7498080" y="40233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Generación de texto ← NUESTRO FOCO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4754880" y="4297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Encoder-Decoder (T5, BART)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7498080" y="4297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Traducción, resumen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4754880" y="4572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Decoder-Only con MoE (Mixtral)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7498080" y="45720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Escala masiva con costo controlado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La Unidad Mínima del LLM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El LLM no ve palabras — ve tokens (unidades sub-léxicas)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108960" y="1078992"/>
            <a:ext cx="2926080" cy="50292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08960" y="1545336"/>
            <a:ext cx="29260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08960" y="111556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325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/ GKE / EKS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581912"/>
            <a:ext cx="0" cy="246888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1828800"/>
            <a:ext cx="228600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88720" y="2249424"/>
            <a:ext cx="22860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186537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0756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llm-prod / llm-dev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9280" y="1828800"/>
            <a:ext cx="228600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0" y="2249424"/>
            <a:ext cx="22860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186537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0756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system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31720" y="2286000"/>
            <a:ext cx="2240280" cy="22860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286000"/>
            <a:ext cx="1097280" cy="22860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606040"/>
            <a:ext cx="182880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026664"/>
            <a:ext cx="1828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6426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852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 4 vCPU, 16GB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77440" y="2606040"/>
            <a:ext cx="228600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377440" y="3026664"/>
            <a:ext cx="2286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77440" y="264261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28529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llm-gateway: 2-10 pods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00600" y="2606040"/>
            <a:ext cx="219456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3026664"/>
            <a:ext cx="21945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264261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8529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/ ClusterIP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132320" y="2606040"/>
            <a:ext cx="1600200" cy="45720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32320" y="3026664"/>
            <a:ext cx="1600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32320" y="264261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28529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CPU&gt;70%: +1 pod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3246120"/>
            <a:ext cx="246888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11480" y="3648456"/>
            <a:ext cx="246888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32826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34930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llm-gateway-1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91840" y="3246120"/>
            <a:ext cx="246888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91840" y="3648456"/>
            <a:ext cx="246888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91840" y="32826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91840" y="34930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llm-gateway-2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72200" y="3246120"/>
            <a:ext cx="2468880" cy="438912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72200" y="3648456"/>
            <a:ext cx="246888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72200" y="32826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72200" y="34930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llm-gateway-3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11480" y="3822192"/>
            <a:ext cx="118872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1480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691640" y="3822192"/>
            <a:ext cx="114300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691640" y="38404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Sidecar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91840" y="3822192"/>
            <a:ext cx="118872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291840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0" y="3822192"/>
            <a:ext cx="114300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72000" y="38404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Sidecar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72200" y="3822192"/>
            <a:ext cx="118872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172200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452360" y="3822192"/>
            <a:ext cx="1143000" cy="384048"/>
          </a:xfrm>
          <a:prstGeom prst="rect">
            <a:avLst/>
          </a:prstGeom>
          <a:solidFill>
            <a:srgbClr val="0D201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452360" y="38404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Sidecar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el Corazón del Transformer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El mecanismo Q·K·V que permite a cada token "ver" a todos los demás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164592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397764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7043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234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Q · K · V (Query, Key, Value)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la frase: "El gato persigue al ratón"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8640" y="2020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"gato" puede atender a "persigue" con peso 0.8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2304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a "ratón" con peso 0.6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8640" y="2587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Esto captura dependencias de largo alcance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28712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Attention(Q,K,V) = softmax(QK^T / sqrt(d_k)) · V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 = lo que busco | K = lo que tengo | V = lo que entrego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8640" y="3438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Multi-Head: N cabezas en paralelo (8-96 en GPT-4)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3721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cabeza aprende distintos tipos de relaciones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8640" y="4023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y Tokenización BPE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" y="42793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"transformers are amazing" → 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tokens: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[trans][form][ers][ are][ amaz][ing]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45079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usa ~30% más tokens que inglés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tiktoken cl100k: vocabulario de 100K tokens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BPE: Byte-Pair Encoding — fusión iterativa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más tokens = mayor costo de API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$0.15/M tokens →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palabras ES ≈ 700 tokens ≈ $0.0001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480560" y="1078992"/>
            <a:ext cx="425196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70432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30368" y="1234440"/>
            <a:ext cx="3410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Prueba Local Inmediata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617720" y="173736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61772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166360" y="1737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llama3.2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766560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descargar modelo 2GB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17720" y="216712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617720" y="2167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166360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run llama3.2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766560" y="2167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chat interactivo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617720" y="259689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617720" y="25968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5166360" y="25968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localhost:11434/api/generate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766560" y="25968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REST API directa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617720" y="30266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617720" y="30266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5166360" y="30266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examples/01_basic_api_call.py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766560" y="30266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primer script del curso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617720" y="3456432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617720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166360" y="3456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examples/02_tokenization.py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766560" y="3456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explorar tokens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480560" y="3886200"/>
            <a:ext cx="4251960" cy="987552"/>
          </a:xfrm>
          <a:prstGeom prst="rect">
            <a:avLst/>
          </a:prstGeom>
          <a:solidFill>
            <a:srgbClr val="0D1F2D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4572000" y="395020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@app.post("/chat")
</a:t>
            </a: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chat(req: ChatRequest):
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await ollama_client.chat(
        model=req.model,
        messages=req.messages)
    return ChatResponse(**resp)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Contexto: Límites del LLM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Portabilidad como principio: build once, deploy anywhere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18120" y="164592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8120" y="164592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078992"/>
            <a:ext cx="2743200" cy="914400"/>
          </a:xfrm>
          <a:prstGeom prst="rect">
            <a:avLst/>
          </a:prstGeom>
          <a:solidFill>
            <a:srgbClr val="0D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1704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8620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único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46120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llm-gateway:v1 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1078992"/>
            <a:ext cx="2651760" cy="347472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7043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1216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17190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Login y ACR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02920" y="19659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login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502920" y="2212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acr login --name myacr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02920" y="24597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Tag y push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02920" y="270662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llm-gateway \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02920" y="29535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myacr.azurecr.io/llm-gateway:v1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502920" y="32004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\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02920" y="34472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myacr.azurecr.io/llm-gateway:v1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02920" y="369417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a ACI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02920" y="39410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container create \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41879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--image myacr.azurecr.io/... \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502920" y="4434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--ports 8000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3246120" y="2331720"/>
            <a:ext cx="2651760" cy="2221992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42316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005072" y="2468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337560" y="2944368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Artifact Registry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3337560" y="3099816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auth login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3337560" y="3255264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auth configure-docker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3337560" y="3410712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llm-gateway \</a:t>
            </a:r>
            <a:endParaRPr lang="en-US" sz="700" dirty="0"/>
          </a:p>
        </p:txBody>
      </p:sp>
      <p:sp>
        <p:nvSpPr>
          <p:cNvPr id="33" name="Text 28"/>
          <p:cNvSpPr/>
          <p:nvPr/>
        </p:nvSpPr>
        <p:spPr>
          <a:xfrm>
            <a:off x="3337560" y="3566160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us-central1-docker.pkg.dev/...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3337560" y="3721608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...</a:t>
            </a:r>
            <a:endParaRPr lang="en-US" sz="700" dirty="0"/>
          </a:p>
        </p:txBody>
      </p:sp>
      <p:sp>
        <p:nvSpPr>
          <p:cNvPr id="35" name="Text 30"/>
          <p:cNvSpPr/>
          <p:nvPr/>
        </p:nvSpPr>
        <p:spPr>
          <a:xfrm>
            <a:off x="3337560" y="3877056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a Cloud Run</a:t>
            </a:r>
            <a:endParaRPr lang="en-US" sz="700" dirty="0"/>
          </a:p>
        </p:txBody>
      </p:sp>
      <p:sp>
        <p:nvSpPr>
          <p:cNvPr id="36" name="Text 31"/>
          <p:cNvSpPr/>
          <p:nvPr/>
        </p:nvSpPr>
        <p:spPr>
          <a:xfrm>
            <a:off x="3337560" y="4032504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run deploy llm-gateway \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3337560" y="4187952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--image us-central1... \</a:t>
            </a:r>
            <a:endParaRPr lang="en-US" sz="700" dirty="0"/>
          </a:p>
        </p:txBody>
      </p:sp>
      <p:sp>
        <p:nvSpPr>
          <p:cNvPr id="38" name="Text 33"/>
          <p:cNvSpPr/>
          <p:nvPr/>
        </p:nvSpPr>
        <p:spPr>
          <a:xfrm>
            <a:off x="3337560" y="4343400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--port 8000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6080760" y="1078992"/>
            <a:ext cx="2651760" cy="347472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170432"/>
            <a:ext cx="457200" cy="4572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839712" y="1216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AWS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6172200" y="17190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ECR Login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6172200" y="19659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ecr get-login-password \</a:t>
            </a:r>
            <a:endParaRPr lang="en-US" sz="750" dirty="0"/>
          </a:p>
        </p:txBody>
      </p:sp>
      <p:sp>
        <p:nvSpPr>
          <p:cNvPr id="44" name="Text 38"/>
          <p:cNvSpPr/>
          <p:nvPr/>
        </p:nvSpPr>
        <p:spPr>
          <a:xfrm>
            <a:off x="6172200" y="2212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docker login --username \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6172200" y="24597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AWS --password-stdin \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6172200" y="270662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123.dkr.ecr.us-east-1...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6172200" y="29535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Tag y push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6172200" y="32004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llm-gateway \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6172200" y="34472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123.dkr.ecr.../llm-gateway:v1</a:t>
            </a:r>
            <a:endParaRPr lang="en-US" sz="750" dirty="0"/>
          </a:p>
        </p:txBody>
      </p:sp>
      <p:sp>
        <p:nvSpPr>
          <p:cNvPr id="50" name="Text 44"/>
          <p:cNvSpPr/>
          <p:nvPr/>
        </p:nvSpPr>
        <p:spPr>
          <a:xfrm>
            <a:off x="6172200" y="369417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...</a:t>
            </a:r>
            <a:endParaRPr lang="en-US" sz="750" dirty="0"/>
          </a:p>
        </p:txBody>
      </p:sp>
      <p:sp>
        <p:nvSpPr>
          <p:cNvPr id="51" name="Text 45"/>
          <p:cNvSpPr/>
          <p:nvPr/>
        </p:nvSpPr>
        <p:spPr>
          <a:xfrm>
            <a:off x="6172200" y="39410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a ECS Fargate</a:t>
            </a:r>
            <a:endParaRPr lang="en-US" sz="750" dirty="0"/>
          </a:p>
        </p:txBody>
      </p:sp>
      <p:sp>
        <p:nvSpPr>
          <p:cNvPr id="52" name="Text 46"/>
          <p:cNvSpPr/>
          <p:nvPr/>
        </p:nvSpPr>
        <p:spPr>
          <a:xfrm>
            <a:off x="6172200" y="41879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ecs create-service \</a:t>
            </a:r>
            <a:endParaRPr lang="en-US" sz="750" dirty="0"/>
          </a:p>
        </p:txBody>
      </p:sp>
      <p:sp>
        <p:nvSpPr>
          <p:cNvPr id="53" name="Text 47"/>
          <p:cNvSpPr/>
          <p:nvPr/>
        </p:nvSpPr>
        <p:spPr>
          <a:xfrm>
            <a:off x="6172200" y="4434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--task-definition llm \</a:t>
            </a:r>
            <a:endParaRPr lang="en-US" sz="750" dirty="0"/>
          </a:p>
        </p:txBody>
      </p:sp>
      <p:sp>
        <p:nvSpPr>
          <p:cNvPr id="54" name="Text 48"/>
          <p:cNvSpPr/>
          <p:nvPr/>
        </p:nvSpPr>
        <p:spPr>
          <a:xfrm>
            <a:off x="6172200" y="46817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--desired-count 2</a:t>
            </a:r>
            <a:endParaRPr lang="en-US" sz="750" dirty="0"/>
          </a:p>
        </p:txBody>
      </p:sp>
      <p:sp>
        <p:nvSpPr>
          <p:cNvPr id="55" name="Text 49"/>
          <p:cNvSpPr/>
          <p:nvPr/>
        </p:nvSpPr>
        <p:spPr>
          <a:xfrm>
            <a:off x="2926080" y="1371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6" name="Text 50"/>
          <p:cNvSpPr/>
          <p:nvPr/>
        </p:nvSpPr>
        <p:spPr>
          <a:xfrm>
            <a:off x="5852160" y="1371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Text 51"/>
          <p:cNvSpPr/>
          <p:nvPr/>
        </p:nvSpPr>
        <p:spPr>
          <a:xfrm>
            <a:off x="4407408" y="20299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58" name="Text 5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Mismo Dockerfile para las 3 nubes — solo cambian las credenciales y el registry de destino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914400"/>
            <a:ext cx="3474720" cy="347472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-548640"/>
            <a:ext cx="2743200" cy="2743200"/>
          </a:xfrm>
          <a:prstGeom prst="ellipse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41148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914400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91440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914400"/>
            <a:ext cx="836676" cy="274320"/>
          </a:xfrm>
          <a:prstGeom prst="roundRect">
            <a:avLst>
              <a:gd name="adj" fmla="val 20000"/>
            </a:avLst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87168" y="914400"/>
            <a:ext cx="83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3258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Contexto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semántica del texto como vectores numéricos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365760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475488"/>
            <a:ext cx="548640" cy="5486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18120" y="114300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863840" y="1261872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37160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818120" y="203911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7863840" y="2157984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2267712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18120" y="293522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7863840" y="3054096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3163824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383133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7863840" y="3950208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4059936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18120" y="47274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548640" y="4800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BSG Institute  ·  AI/LLM Fundamentos  ·  2025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Embeddings?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Representaciones vectoriales que capturan significado semántico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3977640" cy="3794760"/>
          </a:xfrm>
          <a:prstGeom prst="rect">
            <a:avLst/>
          </a:prstGeom>
          <a:solidFill>
            <a:srgbClr val="1A152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Definición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embedding transforma texto en un vector de N números flotantes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→ vector de 768 dimensiones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5234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 (OpenAI) → 3,072 dimensiones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2841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similares → vectores cercanos en el espacio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90448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 su "conocimiento" en los datos de entrenamiento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2834640"/>
            <a:ext cx="274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16552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1078992"/>
            <a:ext cx="3977640" cy="3794760"/>
          </a:xfrm>
          <a:prstGeom prst="rect">
            <a:avLst/>
          </a:prstGeom>
          <a:solidFill>
            <a:srgbClr val="1A2E42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1704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Similitud Coseno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"automóvil" ↔ "carro" → similitud 0.94 (sinónimos)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7627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"IA" ↔ "artificial intelligence" → similitud 0.89 (multilingual)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75234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"pizza" ↔ "física cuántica" → similitud 0.31 (sin relación)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32841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cos(θ) = (A·B) / (|A|×|B|)  ∈  [-1, 1]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90448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semántica: encontrar docs por significado, no por palabras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Base de RAG: indexar docs como vectores → recuperar los más similares a la pregunta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en Producción: RAG y Búsqueda Semántica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El mecanismo Q·K·V que permite a cada token "ver" a todos los demás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164592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RAG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397764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7043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234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 en 4 Pasos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la frase: "El gato persigue al ratón"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8640" y="2020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"gato" puede atender a "persigue" con peso 0.8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2304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a "ratón" con peso 0.6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8640" y="2587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28712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Query: buscar documentos relevantes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query_emb = get_embedding(user_question)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8640" y="3438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top_docs = vector_db.search(query_emb, k=3)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3721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8640" y="4023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 de Embeddings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" y="42793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"transformers are amazing" → 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- hombre + mujer ≈ doctora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París - Francia + Colombia ≈ Bogotá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45079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vectorial captura relaciones semánticas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Ejercicio: python examples/03_embeddings.py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nomic-embed-text vía Ollama (gratis)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Ejecutar: ollama pull nomic-embed-text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similitud en tiempo real en la app React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"Embeddings" → pares predefinidos + custom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480560" y="1078992"/>
            <a:ext cx="425196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70432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30368" y="1234440"/>
            <a:ext cx="3410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Empresariales de Embeddings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617720" y="173736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61772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166360" y="1737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 sobre PDFs internos (RAG)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766560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 en catálogo de productos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17720" y="216712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617720" y="2167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166360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Clasificación automática de tickets de soporte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766560" y="2167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duplicados en base de conocimiento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617720" y="259689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617720" y="25968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5166360" y="25968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nomic-embed-text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766560" y="25968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modelo de embeddings local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617720" y="30266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617720" y="30266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5166360" y="30266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examples/03_embeddings.py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766560" y="30266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demo similitud coseno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617720" y="3456432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617720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166360" y="3456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examples/04_context_window.py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766560" y="3456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ventana de contexto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480560" y="3886200"/>
            <a:ext cx="4251960" cy="987552"/>
          </a:xfrm>
          <a:prstGeom prst="rect">
            <a:avLst/>
          </a:prstGeom>
          <a:solidFill>
            <a:srgbClr val="0D1F2D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4572000" y="395020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@app.post("/chat")
</a:t>
            </a: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chat(req: ChatRequest):
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await ollama_client.chat(
        model=req.model,
        messages=req.messages)
    return ChatResponse(**resp)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914400"/>
            <a:ext cx="3474720" cy="347472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-548640"/>
            <a:ext cx="2743200" cy="2743200"/>
          </a:xfrm>
          <a:prstGeom prst="ellipse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41148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914400"/>
            <a:ext cx="923544" cy="27432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91440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914400"/>
            <a:ext cx="836676" cy="274320"/>
          </a:xfrm>
          <a:prstGeom prst="roundRect">
            <a:avLst>
              <a:gd name="adj" fmla="val 20000"/>
            </a:avLst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87168" y="914400"/>
            <a:ext cx="83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3258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Limitaciones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pueden (y NO pueden) hacer los LLMs en producción?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365760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475488"/>
            <a:ext cx="548640" cy="5486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18120" y="114300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863840" y="1261872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37160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818120" y="203911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7863840" y="2157984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2267712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18120" y="293522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7863840" y="3054096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3163824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383133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7863840" y="3950208"/>
            <a:ext cx="777240" cy="777240"/>
          </a:xfrm>
          <a:prstGeom prst="ellipse">
            <a:avLst/>
          </a:prstGeom>
          <a:solidFill>
            <a:srgbClr val="1A2E4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4059936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18120" y="47274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548640" y="4800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BSG Institute  ·  AI/LLM Fundamentos  ·  2025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de los LLMs Modernos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Lo que los LLMs hacen bien — casos de uso validados en producción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1704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17320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17320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Texto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Redactar, resumir, traducir, adaptar tono. Escala masiva con calidad consistente.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24328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1704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81528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630168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630168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670048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Natural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670048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Diálogos coherentes multi-turno. Memoria de contexto hasta 128K tokens.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837176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17043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94376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843016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843016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882896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Código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882896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JS, SQL, Shell. Debuggear, refactorizar, documentar. GitHub Copilot ×10.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7050024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117043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07224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8055864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8055864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095744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Step-by-Step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095744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resolver problemas complejos dividiéndolos en pasos.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758952" y="299923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3090672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16152" y="30723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1764792" y="310896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1764792" y="31089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804672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Información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804672" y="382219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NER, clasificación, structured output (JSON). Procesar documentos no estructurados.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3337560" y="299923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090672"/>
            <a:ext cx="347472" cy="34747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794760" y="30723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Shape 35"/>
          <p:cNvSpPr/>
          <p:nvPr/>
        </p:nvSpPr>
        <p:spPr>
          <a:xfrm>
            <a:off x="4343400" y="310896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4343400" y="31089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3383280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Multilenguaje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3383280" y="382219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maneja 8+ idiomas. Traducción, detección, respuesta en el idioma del usuario.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5916168" y="299923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3090672"/>
            <a:ext cx="347472" cy="34747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373368" y="30723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Shape 41"/>
          <p:cNvSpPr/>
          <p:nvPr/>
        </p:nvSpPr>
        <p:spPr>
          <a:xfrm>
            <a:off x="6922008" y="310896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2"/>
          <p:cNvSpPr/>
          <p:nvPr/>
        </p:nvSpPr>
        <p:spPr>
          <a:xfrm>
            <a:off x="6922008" y="31089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5961888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Learning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5961888" y="382219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ejemplos en el prompt y el modelo aprende la tarea. Sin fine-tuning.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Críticas en Producción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Lo que los LLMs NO pueden hacer — errores comunes que cuestan caro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1704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17320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17320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información plausible pero falsa. Citas, datos, URLs inventadas. Validar siempre.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24328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1704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81528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630168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630168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670048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670048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congelado en fecha de entrenamiento. Sin acceso a info reciente.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837176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17043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94376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843016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843016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882896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 Compleja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882896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básica OK, álgebra lineal o cálculo = propenso a errores. Delegar a herramientas.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7050024" y="107899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117043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07224" y="1152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8055864" y="118872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8055864" y="1188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095744" y="15544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Lógico Estricto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095744" y="190195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en silogismos formales y problemas de lógica espacial precisa.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758952" y="299923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3090672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16152" y="30723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1764792" y="310896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1764792" y="31089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804672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804672" y="382219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&gt; 0 → respuestas distintas a la misma pregunta. Validar en prod.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3337560" y="299923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090672"/>
            <a:ext cx="347472" cy="34747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794760" y="30723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Shape 35"/>
          <p:cNvSpPr/>
          <p:nvPr/>
        </p:nvSpPr>
        <p:spPr>
          <a:xfrm>
            <a:off x="4343400" y="310896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4343400" y="31089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3383280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Persistente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3383280" y="382219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 todo al terminar la conversación. Requiere BD externa o RAG para "recordar".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5916168" y="2999232"/>
            <a:ext cx="2084832" cy="1664208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3090672"/>
            <a:ext cx="347472" cy="34747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373368" y="30723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Shape 41"/>
          <p:cNvSpPr/>
          <p:nvPr/>
        </p:nvSpPr>
        <p:spPr>
          <a:xfrm>
            <a:off x="6922008" y="310896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2"/>
          <p:cNvSpPr/>
          <p:nvPr/>
        </p:nvSpPr>
        <p:spPr>
          <a:xfrm>
            <a:off x="6922008" y="31089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5961888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de Datos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5961888" y="3822192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enviados a APIs cloud. Usar Ollama local o VPC endpoints para datos sensibles.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Modelos LLM 2025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Escenario real: LLM Gateway para empresa LATAM mediana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920240" cy="384048"/>
          </a:xfrm>
          <a:prstGeom prst="rect">
            <a:avLst/>
          </a:prstGeom>
          <a:solidFill>
            <a:srgbClr val="1A2E42"/>
          </a:solidFill>
          <a:ln w="635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1078992"/>
            <a:ext cx="1691640" cy="384048"/>
          </a:xfrm>
          <a:prstGeom prst="rect">
            <a:avLst/>
          </a:prstGeom>
          <a:solidFill>
            <a:srgbClr val="003060"/>
          </a:solidFill>
          <a:ln w="635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31720" y="1078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(AKS)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1078992"/>
            <a:ext cx="1691640" cy="384048"/>
          </a:xfrm>
          <a:prstGeom prst="rect">
            <a:avLst/>
          </a:prstGeom>
          <a:solidFill>
            <a:srgbClr val="002850"/>
          </a:solidFill>
          <a:ln w="635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0" y="1078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(GKE)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1078992"/>
            <a:ext cx="1691640" cy="384048"/>
          </a:xfrm>
          <a:prstGeom prst="rect">
            <a:avLst/>
          </a:prstGeom>
          <a:solidFill>
            <a:srgbClr val="3D1A00"/>
          </a:solidFill>
          <a:ln w="635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0" y="1078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(EKS)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1078992"/>
            <a:ext cx="1691640" cy="384048"/>
          </a:xfrm>
          <a:prstGeom prst="rect">
            <a:avLst/>
          </a:prstGeom>
          <a:solidFill>
            <a:srgbClr val="002D15"/>
          </a:solidFill>
          <a:ln w="635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06640" y="1078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463040"/>
            <a:ext cx="19202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4630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(nodos)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1463040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0" y="14630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1463040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69080" y="14630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463040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0" y="14630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1463040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52360" y="14630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1865376"/>
            <a:ext cx="19202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18653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K8s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31720" y="1865376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77440" y="18653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23360" y="1865376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69080" y="18653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1865376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60720" y="18653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1865376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52360" y="18653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2267712"/>
            <a:ext cx="19202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22677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LLM (tokens)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31720" y="2267712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77440" y="22677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23360" y="2267712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69080" y="22677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15000" y="2267712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60720" y="22677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06640" y="2267712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52360" y="22677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2670048"/>
            <a:ext cx="19202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26700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Registry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31720" y="2670048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377440" y="267004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23360" y="2670048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069080" y="267004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15000" y="2670048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760720" y="267004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06640" y="2670048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452360" y="267004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1480" y="3072384"/>
            <a:ext cx="19202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57200" y="30723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(egress)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31720" y="3072384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377440" y="307238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023360" y="3072384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069080" y="307238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715000" y="3072384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760720" y="307238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406640" y="3072384"/>
            <a:ext cx="169164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452360" y="307238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11480" y="3474720"/>
            <a:ext cx="19202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57200" y="34747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331720" y="3474720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377440" y="34747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023360" y="3474720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069080" y="34747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715000" y="3474720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760720" y="34747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406640" y="3474720"/>
            <a:ext cx="1691640" cy="402336"/>
          </a:xfrm>
          <a:prstGeom prst="rect">
            <a:avLst/>
          </a:prstGeom>
          <a:solidFill>
            <a:srgbClr val="131E2D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452360" y="34747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11480" y="3877056"/>
            <a:ext cx="1920240" cy="402336"/>
          </a:xfrm>
          <a:prstGeom prst="rect">
            <a:avLst/>
          </a:prstGeom>
          <a:solidFill>
            <a:srgbClr val="0D2A1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57200" y="387705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TOTAL/MES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331720" y="3877056"/>
            <a:ext cx="1691640" cy="402336"/>
          </a:xfrm>
          <a:prstGeom prst="rect">
            <a:avLst/>
          </a:prstGeom>
          <a:solidFill>
            <a:srgbClr val="0D2A1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377440" y="38770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$259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023360" y="3877056"/>
            <a:ext cx="1691640" cy="402336"/>
          </a:xfrm>
          <a:prstGeom prst="rect">
            <a:avLst/>
          </a:prstGeom>
          <a:solidFill>
            <a:srgbClr val="0D2A1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069080" y="38770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715000" y="3877056"/>
            <a:ext cx="1691640" cy="402336"/>
          </a:xfrm>
          <a:prstGeom prst="rect">
            <a:avLst/>
          </a:prstGeom>
          <a:solidFill>
            <a:srgbClr val="0D2A1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760720" y="38770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$310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406640" y="3877056"/>
            <a:ext cx="1691640" cy="402336"/>
          </a:xfrm>
          <a:prstGeom prst="rect">
            <a:avLst/>
          </a:prstGeom>
          <a:solidFill>
            <a:srgbClr val="0D2A10"/>
          </a:solidFill>
          <a:ln w="381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452360" y="38770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</a:t>
            </a:r>
            <a:endParaRPr lang="en-US" sz="1100" dirty="0"/>
          </a:p>
        </p:txBody>
      </p:sp>
      <p:graphicFrame>
        <p:nvGraphicFramePr>
          <p:cNvPr id="85" name="Chart 0"/>
          <p:cNvGraphicFramePr/>
          <p:nvPr/>
        </p:nvGraphicFramePr>
        <p:xfrm>
          <a:off x="411480" y="4160520"/>
          <a:ext cx="8321040" cy="804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Ollama + FastAPI + React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El mecanismo Q·K·V que permite a cada token "ver" a todos los demás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164592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397764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7043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234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Instalar y correr Ollama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la frase: "El gato persigue al ratón"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8640" y="2020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"gato" puede atender a "persigue" con peso 0.8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2304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a "ratón" con peso 0.6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8640" y="2587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serve          # servidor en :11434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28712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Windows: descargar OllamaSetup.exe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desde ollama.com/download/windows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8640" y="3438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nomic-embed-text  # embeddings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3721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list  # verificar modelos instalados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8640" y="4023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Levantar el Backend FastAPI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" y="42793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"transformers are amazing" → 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main:app --reload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45079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API en http://localhost:8000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Docs: http://localhost:8000/docs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Levantar el Frontend React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session1/frontend &amp;&amp; npm install</a:t>
            </a: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 # http://localhost:5173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Tab Chat: probar system prompts y temperatura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480560" y="1078992"/>
            <a:ext cx="4251960" cy="379476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70432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30368" y="1234440"/>
            <a:ext cx="3410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Disponibles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617720" y="173736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61772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166360" y="1737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/api/chat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766560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LLM local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17720" y="216712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617720" y="2167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166360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/api/tokenize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766560" y="2167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y ver tokens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617720" y="259689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617720" y="25968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5166360" y="25968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/api/similarity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766560" y="25968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617720" y="302666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617720" y="30266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5166360" y="30266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/api/embed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766560" y="30266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embeddings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617720" y="3456432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617720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166360" y="3456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/api/models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766560" y="3456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disponibles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480560" y="3886200"/>
            <a:ext cx="4251960" cy="987552"/>
          </a:xfrm>
          <a:prstGeom prst="rect">
            <a:avLst/>
          </a:prstGeom>
          <a:solidFill>
            <a:srgbClr val="0D1F2D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4572000" y="395020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@app.post("/chat")
</a:t>
            </a: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chat(req: ChatRequest):
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await ollama_client.chat(
        model=req.model,
        messages=req.messages)
    return ChatResponse(**resp)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F5A623">
              <a:alpha val="8000"/>
            </a:srgbClr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Resumen de la Sesión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0432" y="93268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Transformer: Self-Attention Q·K·V — cada token ve a todos los demás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93268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22392" y="93268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unidad mínima del LLM — español usa ~30% más que inglés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47672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70432" y="20116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vectores semánticos — similitud coseno mide significado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47672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22392" y="20116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límite de "memoria" del modelo — 4K a 1M tokens según modelo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26664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09067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70432" y="30906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Capacidades: generación, código, razonamiento, extracción, multilenguaje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26664"/>
            <a:ext cx="406908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09067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22392" y="30906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Limitaciones: alucinaciones, knowledge cutoff, memoria, aritmética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114800"/>
            <a:ext cx="8321040" cy="841248"/>
          </a:xfrm>
          <a:prstGeom prst="rect">
            <a:avLst/>
          </a:prstGeom>
          <a:solidFill>
            <a:srgbClr val="1A2E42"/>
          </a:solidFill>
          <a:ln w="6350">
            <a:solidFill>
              <a:srgbClr val="0099BB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Recursos del Curso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46227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GitHub: </a:t>
            </a: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github.com/bsg-institute/session1-llm-fundamentals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6634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Ollama: </a:t>
            </a: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docs/OLLAMA_SETUP.md en el repositorio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446227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prácticos: </a:t>
            </a: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docs/EXERCISES.md — 4 ejercicios guiados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46634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</a:t>
            </a: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— Prompt Engineering y RAG Avanzado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97433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BSG Institute  ·  AI/LLM Fundamentos  ·  Sesión 1 de 10  ·  Próxima sesión: Prompt Engineering y RAG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LANTILLA BSG" id="{7F555B27-CD1F-4042-ABC3-9759B34561DB}" vid="{791D7355-7BB4-4DD9-B0A9-146B9A4E29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2880</Words>
  <Application>Microsoft Office PowerPoint</Application>
  <PresentationFormat>On-screen Show (16:9)</PresentationFormat>
  <Paragraphs>441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Courier New</vt:lpstr>
      <vt:lpstr>Office Theme</vt:lpstr>
      <vt:lpstr>Tema de Office</vt:lpstr>
      <vt:lpstr>Arquitectura y Componentes Esenciales de los LLM  Fundamentos de Arquitectura LLM  ·  Sesión 1 de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 – Kubernetes, Docker y LLMs</dc:title>
  <dc:subject>PptxGenJS Presentation</dc:subject>
  <dc:creator>BSG Institute</dc:creator>
  <cp:lastModifiedBy>Andres Rojas</cp:lastModifiedBy>
  <cp:revision>2</cp:revision>
  <dcterms:created xsi:type="dcterms:W3CDTF">2026-06-30T01:04:24Z</dcterms:created>
  <dcterms:modified xsi:type="dcterms:W3CDTF">2026-08-19T01:21:40Z</dcterms:modified>
</cp:coreProperties>
</file>